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ROI strategy: temporal-behaviour clustering, not shape. Fixes the three ROI faults found on Day 07-08.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Averaging over the bit is the worst rule because it mixes in the straddling frames. Picking the most extreme frame inside each bit is immune to phase error at 2.83 frames per 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(1) can we have the transmitted bits, (2) what framing sits above the raw bits, (3) is 92bps per lamp or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03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F2A65A"/>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1800" b="1" dirty="0">
                <a:solidFill>
                  <a:srgbClr val="11203F"/>
                </a:solidFill>
                <a:latin typeface="Calibri" pitchFamily="34" charset="0"/>
                <a:ea typeface="Calibri" pitchFamily="34" charset="-122"/>
                <a:cs typeface="Calibri" pitchFamily="34" charset="-120"/>
              </a:rPr>
              <a:t>1</a:t>
            </a:r>
            <a:endParaRPr lang="en-US" sz="1800" dirty="0"/>
          </a:p>
        </p:txBody>
      </p:sp>
      <p:sp>
        <p:nvSpPr>
          <p:cNvPr id="4" name="Text 2"/>
          <p:cNvSpPr txBox="1"/>
          <p:nvPr/>
        </p:nvSpPr>
        <p:spPr>
          <a:xfrm>
            <a:off x="1051560" y="329184"/>
            <a:ext cx="10607040" cy="4572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Transmitter ROI — found automatically</a:t>
            </a:r>
            <a:endParaRPr lang="en-US" sz="3000" dirty="0"/>
          </a:p>
        </p:txBody>
      </p:sp>
      <p:sp>
        <p:nvSpPr>
          <p:cNvPr id="5" name="Text 3"/>
          <p:cNvSpPr txBox="1"/>
          <p:nvPr/>
        </p:nvSpPr>
        <p:spPr>
          <a:xfrm>
            <a:off x="1051560" y="795528"/>
            <a:ext cx="10607040" cy="292608"/>
          </a:xfrm>
          <a:prstGeom prst="rect">
            <a:avLst/>
          </a:prstGeom>
          <a:noFill/>
          <a:ln/>
        </p:spPr>
        <p:txBody>
          <a:bodyPr wrap="square" lIns="0" tIns="0" rIns="0" bIns="0" rtlCol="0" anchor="ctr"/>
          <a:lstStyle/>
          <a:p>
            <a:pPr indent="0" marL="0">
              <a:buNone/>
            </a:pPr>
            <a:r>
              <a:rPr lang="en-US" sz="1300" dirty="0">
                <a:solidFill>
                  <a:srgbClr val="8FA3C4"/>
                </a:solidFill>
                <a:latin typeface="Calibri" pitchFamily="34" charset="0"/>
                <a:ea typeface="Calibri" pitchFamily="34" charset="-122"/>
                <a:cs typeface="Calibri" pitchFamily="34" charset="-120"/>
              </a:rPr>
              <a:t>Every lamp located from the data alone. No hand-drawn boxes, no lamp count supplied.</a:t>
            </a:r>
            <a:endParaRPr lang="en-US" sz="1300" dirty="0"/>
          </a:p>
        </p:txBody>
      </p:sp>
      <p:pic>
        <p:nvPicPr>
          <p:cNvPr id="6" name="Image 0" descr="fig_roi.png">    </p:cNvPr>
          <p:cNvPicPr>
            <a:picLocks noChangeAspect="1"/>
          </p:cNvPicPr>
          <p:nvPr/>
        </p:nvPicPr>
        <p:blipFill>
          <a:blip r:embed="rId1"/>
          <a:stretch>
            <a:fillRect/>
          </a:stretch>
        </p:blipFill>
        <p:spPr>
          <a:xfrm>
            <a:off x="457200" y="1298448"/>
            <a:ext cx="7589520" cy="4434840"/>
          </a:xfrm>
          <a:prstGeom prst="rect">
            <a:avLst/>
          </a:prstGeom>
        </p:spPr>
      </p:pic>
      <p:sp>
        <p:nvSpPr>
          <p:cNvPr id="7" name="Text 4"/>
          <p:cNvSpPr txBox="1"/>
          <p:nvPr/>
        </p:nvSpPr>
        <p:spPr>
          <a:xfrm>
            <a:off x="8321040" y="1298448"/>
            <a:ext cx="3383280" cy="274320"/>
          </a:xfrm>
          <a:prstGeom prst="rect">
            <a:avLst/>
          </a:prstGeom>
          <a:noFill/>
          <a:ln/>
        </p:spPr>
        <p:txBody>
          <a:bodyPr wrap="square" lIns="0" tIns="0" rIns="0" bIns="0" rtlCol="0" anchor="ctr"/>
          <a:lstStyle/>
          <a:p>
            <a:pPr indent="0" marL="0">
              <a:buNone/>
            </a:pPr>
            <a:r>
              <a:rPr lang="en-US" sz="1300" b="1" dirty="0">
                <a:solidFill>
                  <a:srgbClr val="F2A65A"/>
                </a:solidFill>
                <a:latin typeface="Calibri" pitchFamily="34" charset="0"/>
                <a:ea typeface="Calibri" pitchFamily="34" charset="-122"/>
                <a:cs typeface="Calibri" pitchFamily="34" charset="-120"/>
              </a:rPr>
              <a:t>How it works</a:t>
            </a:r>
            <a:endParaRPr lang="en-US" sz="1300" dirty="0"/>
          </a:p>
        </p:txBody>
      </p:sp>
      <p:sp>
        <p:nvSpPr>
          <p:cNvPr id="8" name="Text 5"/>
          <p:cNvSpPr txBox="1"/>
          <p:nvPr/>
        </p:nvSpPr>
        <p:spPr>
          <a:xfrm>
            <a:off x="8321040" y="1627632"/>
            <a:ext cx="3429000" cy="192024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CADCFC"/>
                </a:solidFill>
                <a:latin typeface="Calibri" pitchFamily="34" charset="0"/>
                <a:ea typeface="Calibri" pitchFamily="34" charset="-122"/>
                <a:cs typeface="Calibri" pitchFamily="34" charset="-120"/>
              </a:rPr>
              <a:t>Group the changing pixels by how their brightness behaves over time.</a:t>
            </a:r>
            <a:endParaRPr lang="en-US" sz="1150" dirty="0"/>
          </a:p>
          <a:p>
            <a:pPr marL="342900" indent="-342900">
              <a:spcAft>
                <a:spcPts val="600"/>
              </a:spcAft>
              <a:buSzPct val="100000"/>
              <a:buChar char="•"/>
            </a:pPr>
            <a:r>
              <a:rPr lang="en-US" sz="1150" dirty="0">
                <a:solidFill>
                  <a:srgbClr val="CADCFC"/>
                </a:solidFill>
                <a:latin typeface="Calibri" pitchFamily="34" charset="0"/>
                <a:ea typeface="Calibri" pitchFamily="34" charset="-122"/>
                <a:cs typeface="Calibri" pitchFamily="34" charset="-120"/>
              </a:rPr>
              <a:t>Pixels of one lamp blink together. Pixels of different lamps do not.</a:t>
            </a:r>
            <a:endParaRPr lang="en-US" sz="1150" dirty="0"/>
          </a:p>
          <a:p>
            <a:pPr marL="342900" indent="-342900">
              <a:spcAft>
                <a:spcPts val="600"/>
              </a:spcAft>
              <a:buSzPct val="100000"/>
              <a:buChar char="•"/>
            </a:pPr>
            <a:r>
              <a:rPr lang="en-US" sz="1150" dirty="0">
                <a:solidFill>
                  <a:srgbClr val="CADCFC"/>
                </a:solidFill>
                <a:latin typeface="Calibri" pitchFamily="34" charset="0"/>
                <a:ea typeface="Calibri" pitchFamily="34" charset="-122"/>
                <a:cs typeface="Calibri" pitchFamily="34" charset="-120"/>
              </a:rPr>
              <a:t>This splits touching lamps, which a shape-based method cannot do.</a:t>
            </a:r>
            <a:endParaRPr lang="en-US" sz="1150" dirty="0"/>
          </a:p>
          <a:p>
            <a:pPr marL="342900" indent="-342900">
              <a:spcAft>
                <a:spcPts val="600"/>
              </a:spcAft>
              <a:buSzPct val="100000"/>
              <a:buChar char="•"/>
            </a:pPr>
            <a:r>
              <a:rPr lang="en-US" sz="1150" dirty="0">
                <a:solidFill>
                  <a:srgbClr val="CADCFC"/>
                </a:solidFill>
                <a:latin typeface="Calibri" pitchFamily="34" charset="0"/>
                <a:ea typeface="Calibri" pitchFamily="34" charset="-122"/>
                <a:cs typeface="Calibri" pitchFamily="34" charset="-120"/>
              </a:rPr>
              <a:t>Halo and glare rejected by fill ratio and relative size.</a:t>
            </a:r>
            <a:endParaRPr lang="en-US" sz="1150" dirty="0"/>
          </a:p>
        </p:txBody>
      </p:sp>
      <p:sp>
        <p:nvSpPr>
          <p:cNvPr id="9" name="Shape 6"/>
          <p:cNvSpPr/>
          <p:nvPr/>
        </p:nvSpPr>
        <p:spPr>
          <a:xfrm>
            <a:off x="8321040" y="3703320"/>
            <a:ext cx="2331720" cy="1024128"/>
          </a:xfrm>
          <a:prstGeom prst="roundRect">
            <a:avLst>
              <a:gd name="adj" fmla="val 8036"/>
            </a:avLst>
          </a:prstGeom>
          <a:solidFill>
            <a:srgbClr val="1B2E52"/>
          </a:solidFill>
          <a:ln/>
        </p:spPr>
      </p:sp>
      <p:sp>
        <p:nvSpPr>
          <p:cNvPr id="10" name="Text 7"/>
          <p:cNvSpPr txBox="1"/>
          <p:nvPr/>
        </p:nvSpPr>
        <p:spPr>
          <a:xfrm>
            <a:off x="8321040" y="3776472"/>
            <a:ext cx="2331720" cy="548640"/>
          </a:xfrm>
          <a:prstGeom prst="rect">
            <a:avLst/>
          </a:prstGeom>
          <a:noFill/>
          <a:ln/>
        </p:spPr>
        <p:txBody>
          <a:bodyPr wrap="square" lIns="0" tIns="0" rIns="0" bIns="0" rtlCol="0" anchor="ctr"/>
          <a:lstStyle/>
          <a:p>
            <a:pPr algn="ctr" indent="0" marL="0">
              <a:buNone/>
            </a:pPr>
            <a:r>
              <a:rPr lang="en-US" sz="2800" b="1" dirty="0">
                <a:solidFill>
                  <a:srgbClr val="CADCFC"/>
                </a:solidFill>
                <a:latin typeface="Cambria" pitchFamily="34" charset="0"/>
                <a:ea typeface="Cambria" pitchFamily="34" charset="-122"/>
                <a:cs typeface="Cambria" pitchFamily="34" charset="-120"/>
              </a:rPr>
              <a:t>4 / 4</a:t>
            </a:r>
            <a:endParaRPr lang="en-US" sz="2800" dirty="0"/>
          </a:p>
        </p:txBody>
      </p:sp>
      <p:sp>
        <p:nvSpPr>
          <p:cNvPr id="11" name="Text 8"/>
          <p:cNvSpPr txBox="1"/>
          <p:nvPr/>
        </p:nvSpPr>
        <p:spPr>
          <a:xfrm>
            <a:off x="8321040" y="4325112"/>
            <a:ext cx="2331720" cy="347472"/>
          </a:xfrm>
          <a:prstGeom prst="rect">
            <a:avLst/>
          </a:prstGeom>
          <a:noFill/>
          <a:ln/>
        </p:spPr>
        <p:txBody>
          <a:bodyPr wrap="square" lIns="0" tIns="0" rIns="0" bIns="0" rtlCol="0" anchor="ctr"/>
          <a:lstStyle/>
          <a:p>
            <a:pPr algn="ctr" indent="0" marL="0">
              <a:buNone/>
            </a:pPr>
            <a:r>
              <a:rPr lang="en-US" sz="1050" dirty="0">
                <a:solidFill>
                  <a:srgbClr val="8FA3C4"/>
                </a:solidFill>
                <a:latin typeface="Calibri" pitchFamily="34" charset="0"/>
                <a:ea typeface="Calibri" pitchFamily="34" charset="-122"/>
                <a:cs typeface="Calibri" pitchFamily="34" charset="-120"/>
              </a:rPr>
              <a:t>videos: correct lamp count</a:t>
            </a:r>
            <a:endParaRPr lang="en-US" sz="1050" dirty="0"/>
          </a:p>
        </p:txBody>
      </p:sp>
      <p:sp>
        <p:nvSpPr>
          <p:cNvPr id="12" name="Shape 9"/>
          <p:cNvSpPr/>
          <p:nvPr/>
        </p:nvSpPr>
        <p:spPr>
          <a:xfrm>
            <a:off x="8321040" y="4828032"/>
            <a:ext cx="2331720" cy="1024128"/>
          </a:xfrm>
          <a:prstGeom prst="roundRect">
            <a:avLst>
              <a:gd name="adj" fmla="val 8036"/>
            </a:avLst>
          </a:prstGeom>
          <a:solidFill>
            <a:srgbClr val="1B2E52"/>
          </a:solidFill>
          <a:ln/>
        </p:spPr>
      </p:sp>
      <p:sp>
        <p:nvSpPr>
          <p:cNvPr id="13" name="Text 10"/>
          <p:cNvSpPr txBox="1"/>
          <p:nvPr/>
        </p:nvSpPr>
        <p:spPr>
          <a:xfrm>
            <a:off x="8321040" y="4901184"/>
            <a:ext cx="2331720" cy="548640"/>
          </a:xfrm>
          <a:prstGeom prst="rect">
            <a:avLst/>
          </a:prstGeom>
          <a:noFill/>
          <a:ln/>
        </p:spPr>
        <p:txBody>
          <a:bodyPr wrap="square" lIns="0" tIns="0" rIns="0" bIns="0" rtlCol="0" anchor="ctr"/>
          <a:lstStyle/>
          <a:p>
            <a:pPr algn="ctr" indent="0" marL="0">
              <a:buNone/>
            </a:pPr>
            <a:r>
              <a:rPr lang="en-US" sz="2800" b="1" dirty="0">
                <a:solidFill>
                  <a:srgbClr val="F2A65A"/>
                </a:solidFill>
                <a:latin typeface="Cambria" pitchFamily="34" charset="0"/>
                <a:ea typeface="Cambria" pitchFamily="34" charset="-122"/>
                <a:cs typeface="Cambria" pitchFamily="34" charset="-120"/>
              </a:rPr>
              <a:t>0</a:t>
            </a:r>
            <a:endParaRPr lang="en-US" sz="2800" dirty="0"/>
          </a:p>
        </p:txBody>
      </p:sp>
      <p:sp>
        <p:nvSpPr>
          <p:cNvPr id="14" name="Text 11"/>
          <p:cNvSpPr txBox="1"/>
          <p:nvPr/>
        </p:nvSpPr>
        <p:spPr>
          <a:xfrm>
            <a:off x="8321040" y="5449824"/>
            <a:ext cx="2331720" cy="347472"/>
          </a:xfrm>
          <a:prstGeom prst="rect">
            <a:avLst/>
          </a:prstGeom>
          <a:noFill/>
          <a:ln/>
        </p:spPr>
        <p:txBody>
          <a:bodyPr wrap="square" lIns="0" tIns="0" rIns="0" bIns="0" rtlCol="0" anchor="ctr"/>
          <a:lstStyle/>
          <a:p>
            <a:pPr algn="ctr" indent="0" marL="0">
              <a:buNone/>
            </a:pPr>
            <a:r>
              <a:rPr lang="en-US" sz="1050" dirty="0">
                <a:solidFill>
                  <a:srgbClr val="8FA3C4"/>
                </a:solidFill>
                <a:latin typeface="Calibri" pitchFamily="34" charset="0"/>
                <a:ea typeface="Calibri" pitchFamily="34" charset="-122"/>
                <a:cs typeface="Calibri" pitchFamily="34" charset="-120"/>
              </a:rPr>
              <a:t>hand-drawn boxes needed</a:t>
            </a:r>
            <a:endParaRPr lang="en-US" sz="1050" dirty="0"/>
          </a:p>
        </p:txBody>
      </p:sp>
      <p:sp>
        <p:nvSpPr>
          <p:cNvPr id="15" name="Text 12"/>
          <p:cNvSpPr txBox="1"/>
          <p:nvPr/>
        </p:nvSpPr>
        <p:spPr>
          <a:xfrm>
            <a:off x="457200" y="5870448"/>
            <a:ext cx="11247120" cy="457200"/>
          </a:xfrm>
          <a:prstGeom prst="rect">
            <a:avLst/>
          </a:prstGeom>
          <a:noFill/>
          <a:ln/>
        </p:spPr>
        <p:txBody>
          <a:bodyPr wrap="square" lIns="0" tIns="0" rIns="0" bIns="0" rtlCol="0" anchor="ctr"/>
          <a:lstStyle/>
          <a:p>
            <a:pPr indent="0" marL="0">
              <a:buNone/>
            </a:pPr>
            <a:r>
              <a:rPr lang="en-US" sz="1100" i="1" dirty="0">
                <a:solidFill>
                  <a:srgbClr val="8FA3C4"/>
                </a:solidFill>
                <a:latin typeface="Calibri" pitchFamily="34" charset="0"/>
                <a:ea typeface="Calibri" pitchFamily="34" charset="-122"/>
                <a:cs typeface="Calibri" pitchFamily="34" charset="-120"/>
              </a:rPr>
              <a:t>Lamp count was never given to the detector — it is inferred, and it matches the filename in all four videos.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203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F2A65A"/>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1800" b="1" dirty="0">
                <a:solidFill>
                  <a:srgbClr val="11203F"/>
                </a:solidFill>
                <a:latin typeface="Calibri" pitchFamily="34" charset="0"/>
                <a:ea typeface="Calibri" pitchFamily="34" charset="-122"/>
                <a:cs typeface="Calibri" pitchFamily="34" charset="-120"/>
              </a:rPr>
              <a:t>2</a:t>
            </a:r>
            <a:endParaRPr lang="en-US" sz="1800" dirty="0"/>
          </a:p>
        </p:txBody>
      </p:sp>
      <p:sp>
        <p:nvSpPr>
          <p:cNvPr id="4" name="Text 2"/>
          <p:cNvSpPr txBox="1"/>
          <p:nvPr/>
        </p:nvSpPr>
        <p:spPr>
          <a:xfrm>
            <a:off x="1051560" y="329184"/>
            <a:ext cx="10607040" cy="4572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Signal extraction — the rule matters more than the timing</a:t>
            </a:r>
            <a:endParaRPr lang="en-US" sz="3000" dirty="0"/>
          </a:p>
        </p:txBody>
      </p:sp>
      <p:sp>
        <p:nvSpPr>
          <p:cNvPr id="5" name="Text 3"/>
          <p:cNvSpPr txBox="1"/>
          <p:nvPr/>
        </p:nvSpPr>
        <p:spPr>
          <a:xfrm>
            <a:off x="1051560" y="795528"/>
            <a:ext cx="10607040" cy="292608"/>
          </a:xfrm>
          <a:prstGeom prst="rect">
            <a:avLst/>
          </a:prstGeom>
          <a:noFill/>
          <a:ln/>
        </p:spPr>
        <p:txBody>
          <a:bodyPr wrap="square" lIns="0" tIns="0" rIns="0" bIns="0" rtlCol="0" anchor="ctr"/>
          <a:lstStyle/>
          <a:p>
            <a:pPr indent="0" marL="0">
              <a:buNone/>
            </a:pPr>
            <a:r>
              <a:rPr lang="en-US" sz="1300" dirty="0">
                <a:solidFill>
                  <a:srgbClr val="8FA3C4"/>
                </a:solidFill>
                <a:latin typeface="Calibri" pitchFamily="34" charset="0"/>
                <a:ea typeface="Calibri" pitchFamily="34" charset="-122"/>
                <a:cs typeface="Calibri" pitchFamily="34" charset="-120"/>
              </a:rPr>
              <a:t>2.83 frames per bit means about one frame in three straddles a bit boundary. How we sample decides everything.</a:t>
            </a:r>
            <a:endParaRPr lang="en-US" sz="1300" dirty="0"/>
          </a:p>
        </p:txBody>
      </p:sp>
      <p:pic>
        <p:nvPicPr>
          <p:cNvPr id="6" name="Image 0" descr="fig_phase.png">    </p:cNvPr>
          <p:cNvPicPr>
            <a:picLocks noChangeAspect="1"/>
          </p:cNvPicPr>
          <p:nvPr/>
        </p:nvPicPr>
        <p:blipFill>
          <a:blip r:embed="rId1"/>
          <a:stretch>
            <a:fillRect/>
          </a:stretch>
        </p:blipFill>
        <p:spPr>
          <a:xfrm>
            <a:off x="457200" y="1325880"/>
            <a:ext cx="5943600" cy="2971800"/>
          </a:xfrm>
          <a:prstGeom prst="rect">
            <a:avLst/>
          </a:prstGeom>
        </p:spPr>
      </p:pic>
      <p:sp>
        <p:nvSpPr>
          <p:cNvPr id="7" name="Text 4"/>
          <p:cNvSpPr txBox="1"/>
          <p:nvPr/>
        </p:nvSpPr>
        <p:spPr>
          <a:xfrm>
            <a:off x="6675120" y="1325880"/>
            <a:ext cx="5029200" cy="274320"/>
          </a:xfrm>
          <a:prstGeom prst="rect">
            <a:avLst/>
          </a:prstGeom>
          <a:noFill/>
          <a:ln/>
        </p:spPr>
        <p:txBody>
          <a:bodyPr wrap="square" lIns="0" tIns="0" rIns="0" bIns="0" rtlCol="0" anchor="ctr"/>
          <a:lstStyle/>
          <a:p>
            <a:pPr indent="0" marL="0">
              <a:buNone/>
            </a:pPr>
            <a:r>
              <a:rPr lang="en-US" sz="1300" b="1" dirty="0">
                <a:solidFill>
                  <a:srgbClr val="F2A65A"/>
                </a:solidFill>
                <a:latin typeface="Calibri" pitchFamily="34" charset="0"/>
                <a:ea typeface="Calibri" pitchFamily="34" charset="-122"/>
                <a:cs typeface="Calibri" pitchFamily="34" charset="-120"/>
              </a:rPr>
              <a:t>Four rules, tested across every bit phase</a:t>
            </a:r>
            <a:endParaRPr lang="en-US" sz="1300" dirty="0"/>
          </a:p>
        </p:txBody>
      </p:sp>
      <p:sp>
        <p:nvSpPr>
          <p:cNvPr id="8" name="Shape 5"/>
          <p:cNvSpPr/>
          <p:nvPr/>
        </p:nvSpPr>
        <p:spPr>
          <a:xfrm>
            <a:off x="6675120" y="1691640"/>
            <a:ext cx="5029200" cy="548640"/>
          </a:xfrm>
          <a:prstGeom prst="roundRect">
            <a:avLst>
              <a:gd name="adj" fmla="val 11667"/>
            </a:avLst>
          </a:prstGeom>
          <a:solidFill>
            <a:srgbClr val="1F4739"/>
          </a:solidFill>
          <a:ln/>
        </p:spPr>
      </p:sp>
      <p:sp>
        <p:nvSpPr>
          <p:cNvPr id="9" name="Text 6"/>
          <p:cNvSpPr txBox="1"/>
          <p:nvPr/>
        </p:nvSpPr>
        <p:spPr>
          <a:xfrm>
            <a:off x="6858000" y="1764792"/>
            <a:ext cx="3383280" cy="41148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most confident frame in the bit</a:t>
            </a:r>
            <a:endParaRPr lang="en-US" sz="1150" dirty="0"/>
          </a:p>
        </p:txBody>
      </p:sp>
      <p:sp>
        <p:nvSpPr>
          <p:cNvPr id="10" name="Text 7"/>
          <p:cNvSpPr txBox="1"/>
          <p:nvPr/>
        </p:nvSpPr>
        <p:spPr>
          <a:xfrm>
            <a:off x="10241280" y="1764792"/>
            <a:ext cx="1325880" cy="411480"/>
          </a:xfrm>
          <a:prstGeom prst="rect">
            <a:avLst/>
          </a:prstGeom>
          <a:noFill/>
          <a:ln/>
        </p:spPr>
        <p:txBody>
          <a:bodyPr wrap="square" lIns="0" tIns="0" rIns="0" bIns="0" rtlCol="0" anchor="ctr"/>
          <a:lstStyle/>
          <a:p>
            <a:pPr algn="r" indent="0" marL="0">
              <a:buNone/>
            </a:pPr>
            <a:r>
              <a:rPr lang="en-US" sz="1500" b="1" dirty="0">
                <a:solidFill>
                  <a:srgbClr val="6FD9A6"/>
                </a:solidFill>
                <a:latin typeface="Cambria" pitchFamily="34" charset="0"/>
                <a:ea typeface="Cambria" pitchFamily="34" charset="-122"/>
                <a:cs typeface="Cambria" pitchFamily="34" charset="-120"/>
              </a:rPr>
              <a:t>0.00 %</a:t>
            </a:r>
            <a:endParaRPr lang="en-US" sz="1500" dirty="0"/>
          </a:p>
        </p:txBody>
      </p:sp>
      <p:sp>
        <p:nvSpPr>
          <p:cNvPr id="11" name="Shape 8"/>
          <p:cNvSpPr/>
          <p:nvPr/>
        </p:nvSpPr>
        <p:spPr>
          <a:xfrm>
            <a:off x="6675120" y="2350008"/>
            <a:ext cx="5029200" cy="548640"/>
          </a:xfrm>
          <a:prstGeom prst="roundRect">
            <a:avLst>
              <a:gd name="adj" fmla="val 11667"/>
            </a:avLst>
          </a:prstGeom>
          <a:solidFill>
            <a:srgbClr val="1B2E52"/>
          </a:solidFill>
          <a:ln/>
        </p:spPr>
      </p:sp>
      <p:sp>
        <p:nvSpPr>
          <p:cNvPr id="12" name="Text 9"/>
          <p:cNvSpPr txBox="1"/>
          <p:nvPr/>
        </p:nvSpPr>
        <p:spPr>
          <a:xfrm>
            <a:off x="6858000" y="2423160"/>
            <a:ext cx="3383280" cy="41148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nearest frame to the bit centre</a:t>
            </a:r>
            <a:endParaRPr lang="en-US" sz="1150" dirty="0"/>
          </a:p>
        </p:txBody>
      </p:sp>
      <p:sp>
        <p:nvSpPr>
          <p:cNvPr id="13" name="Text 10"/>
          <p:cNvSpPr txBox="1"/>
          <p:nvPr/>
        </p:nvSpPr>
        <p:spPr>
          <a:xfrm>
            <a:off x="10241280" y="2423160"/>
            <a:ext cx="1325880" cy="411480"/>
          </a:xfrm>
          <a:prstGeom prst="rect">
            <a:avLst/>
          </a:prstGeom>
          <a:noFill/>
          <a:ln/>
        </p:spPr>
        <p:txBody>
          <a:bodyPr wrap="square" lIns="0" tIns="0" rIns="0" bIns="0" rtlCol="0" anchor="ctr"/>
          <a:lstStyle/>
          <a:p>
            <a:pPr algn="r" indent="0" marL="0">
              <a:buNone/>
            </a:pPr>
            <a:r>
              <a:rPr lang="en-US" sz="1500" b="1" dirty="0">
                <a:solidFill>
                  <a:srgbClr val="CADCFC"/>
                </a:solidFill>
                <a:latin typeface="Cambria" pitchFamily="34" charset="0"/>
                <a:ea typeface="Cambria" pitchFamily="34" charset="-122"/>
                <a:cs typeface="Cambria" pitchFamily="34" charset="-120"/>
              </a:rPr>
              <a:t>1.13 %</a:t>
            </a:r>
            <a:endParaRPr lang="en-US" sz="1500" dirty="0"/>
          </a:p>
        </p:txBody>
      </p:sp>
      <p:sp>
        <p:nvSpPr>
          <p:cNvPr id="14" name="Shape 11"/>
          <p:cNvSpPr/>
          <p:nvPr/>
        </p:nvSpPr>
        <p:spPr>
          <a:xfrm>
            <a:off x="6675120" y="3008376"/>
            <a:ext cx="5029200" cy="548640"/>
          </a:xfrm>
          <a:prstGeom prst="roundRect">
            <a:avLst>
              <a:gd name="adj" fmla="val 11667"/>
            </a:avLst>
          </a:prstGeom>
          <a:solidFill>
            <a:srgbClr val="1B2E52"/>
          </a:solidFill>
          <a:ln/>
        </p:spPr>
      </p:sp>
      <p:sp>
        <p:nvSpPr>
          <p:cNvPr id="15" name="Text 12"/>
          <p:cNvSpPr txBox="1"/>
          <p:nvPr/>
        </p:nvSpPr>
        <p:spPr>
          <a:xfrm>
            <a:off x="6858000" y="3081528"/>
            <a:ext cx="3383280" cy="41148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interpolated at the bit centre</a:t>
            </a:r>
            <a:endParaRPr lang="en-US" sz="1150" dirty="0"/>
          </a:p>
        </p:txBody>
      </p:sp>
      <p:sp>
        <p:nvSpPr>
          <p:cNvPr id="16" name="Text 13"/>
          <p:cNvSpPr txBox="1"/>
          <p:nvPr/>
        </p:nvSpPr>
        <p:spPr>
          <a:xfrm>
            <a:off x="10241280" y="3081528"/>
            <a:ext cx="1325880" cy="411480"/>
          </a:xfrm>
          <a:prstGeom prst="rect">
            <a:avLst/>
          </a:prstGeom>
          <a:noFill/>
          <a:ln/>
        </p:spPr>
        <p:txBody>
          <a:bodyPr wrap="square" lIns="0" tIns="0" rIns="0" bIns="0" rtlCol="0" anchor="ctr"/>
          <a:lstStyle/>
          <a:p>
            <a:pPr algn="r" indent="0" marL="0">
              <a:buNone/>
            </a:pPr>
            <a:r>
              <a:rPr lang="en-US" sz="1500" b="1" dirty="0">
                <a:solidFill>
                  <a:srgbClr val="CADCFC"/>
                </a:solidFill>
                <a:latin typeface="Cambria" pitchFamily="34" charset="0"/>
                <a:ea typeface="Cambria" pitchFamily="34" charset="-122"/>
                <a:cs typeface="Cambria" pitchFamily="34" charset="-120"/>
              </a:rPr>
              <a:t>5.94 %</a:t>
            </a:r>
            <a:endParaRPr lang="en-US" sz="1500" dirty="0"/>
          </a:p>
        </p:txBody>
      </p:sp>
      <p:sp>
        <p:nvSpPr>
          <p:cNvPr id="17" name="Shape 14"/>
          <p:cNvSpPr/>
          <p:nvPr/>
        </p:nvSpPr>
        <p:spPr>
          <a:xfrm>
            <a:off x="6675120" y="3666744"/>
            <a:ext cx="5029200" cy="548640"/>
          </a:xfrm>
          <a:prstGeom prst="roundRect">
            <a:avLst>
              <a:gd name="adj" fmla="val 11667"/>
            </a:avLst>
          </a:prstGeom>
          <a:solidFill>
            <a:srgbClr val="4A2330"/>
          </a:solidFill>
          <a:ln/>
        </p:spPr>
      </p:sp>
      <p:sp>
        <p:nvSpPr>
          <p:cNvPr id="18" name="Text 15"/>
          <p:cNvSpPr txBox="1"/>
          <p:nvPr/>
        </p:nvSpPr>
        <p:spPr>
          <a:xfrm>
            <a:off x="6858000" y="3739896"/>
            <a:ext cx="3383280" cy="41148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averaged across the whole bit</a:t>
            </a:r>
            <a:endParaRPr lang="en-US" sz="1150" dirty="0"/>
          </a:p>
        </p:txBody>
      </p:sp>
      <p:sp>
        <p:nvSpPr>
          <p:cNvPr id="19" name="Text 16"/>
          <p:cNvSpPr txBox="1"/>
          <p:nvPr/>
        </p:nvSpPr>
        <p:spPr>
          <a:xfrm>
            <a:off x="10241280" y="3739896"/>
            <a:ext cx="1325880" cy="411480"/>
          </a:xfrm>
          <a:prstGeom prst="rect">
            <a:avLst/>
          </a:prstGeom>
          <a:noFill/>
          <a:ln/>
        </p:spPr>
        <p:txBody>
          <a:bodyPr wrap="square" lIns="0" tIns="0" rIns="0" bIns="0" rtlCol="0" anchor="ctr"/>
          <a:lstStyle/>
          <a:p>
            <a:pPr algn="r" indent="0" marL="0">
              <a:buNone/>
            </a:pPr>
            <a:r>
              <a:rPr lang="en-US" sz="1500" b="1" dirty="0">
                <a:solidFill>
                  <a:srgbClr val="F08A9E"/>
                </a:solidFill>
                <a:latin typeface="Cambria" pitchFamily="34" charset="0"/>
                <a:ea typeface="Cambria" pitchFamily="34" charset="-122"/>
                <a:cs typeface="Cambria" pitchFamily="34" charset="-120"/>
              </a:rPr>
              <a:t>18.28 %</a:t>
            </a:r>
            <a:endParaRPr lang="en-US" sz="1500" dirty="0"/>
          </a:p>
        </p:txBody>
      </p:sp>
      <p:sp>
        <p:nvSpPr>
          <p:cNvPr id="20" name="Text 17"/>
          <p:cNvSpPr txBox="1"/>
          <p:nvPr/>
        </p:nvSpPr>
        <p:spPr>
          <a:xfrm>
            <a:off x="6675120" y="4389120"/>
            <a:ext cx="5029200" cy="274320"/>
          </a:xfrm>
          <a:prstGeom prst="rect">
            <a:avLst/>
          </a:prstGeom>
          <a:noFill/>
          <a:ln/>
        </p:spPr>
        <p:txBody>
          <a:bodyPr wrap="square" lIns="0" tIns="0" rIns="0" bIns="0" rtlCol="0" anchor="ctr"/>
          <a:lstStyle/>
          <a:p>
            <a:pPr indent="0" marL="0">
              <a:buNone/>
            </a:pPr>
            <a:r>
              <a:rPr lang="en-US" sz="1000" i="1" dirty="0">
                <a:solidFill>
                  <a:srgbClr val="8FA3C4"/>
                </a:solidFill>
                <a:latin typeface="Calibri" pitchFamily="34" charset="0"/>
                <a:ea typeface="Calibri" pitchFamily="34" charset="-122"/>
                <a:cs typeface="Calibri" pitchFamily="34" charset="-120"/>
              </a:rPr>
              <a:t>Percentage of bits read too close to the threshold to trust. Lower is better.</a:t>
            </a:r>
            <a:endParaRPr lang="en-US" sz="1000" dirty="0"/>
          </a:p>
        </p:txBody>
      </p:sp>
      <p:pic>
        <p:nvPicPr>
          <p:cNvPr id="21" name="Image 1" descr="fig_eye_only.png">    </p:cNvPr>
          <p:cNvPicPr>
            <a:picLocks noChangeAspect="1"/>
          </p:cNvPicPr>
          <p:nvPr/>
        </p:nvPicPr>
        <p:blipFill>
          <a:blip r:embed="rId2"/>
          <a:stretch>
            <a:fillRect/>
          </a:stretch>
        </p:blipFill>
        <p:spPr>
          <a:xfrm>
            <a:off x="6675120" y="4709160"/>
            <a:ext cx="5029200" cy="1527048"/>
          </a:xfrm>
          <a:prstGeom prst="rect">
            <a:avLst/>
          </a:prstGeom>
        </p:spPr>
      </p:pic>
      <p:sp>
        <p:nvSpPr>
          <p:cNvPr id="22" name="Text 18"/>
          <p:cNvSpPr txBox="1"/>
          <p:nvPr/>
        </p:nvSpPr>
        <p:spPr>
          <a:xfrm>
            <a:off x="457200" y="4572000"/>
            <a:ext cx="5943600" cy="82296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The eye is NOT cleanly open. Because 2.83 is not a whole number, transitions land at every position inside the bit — so no fixed sampling point is always safe.</a:t>
            </a:r>
            <a:endParaRPr lang="en-US" sz="1100" dirty="0"/>
          </a:p>
        </p:txBody>
      </p:sp>
      <p:sp>
        <p:nvSpPr>
          <p:cNvPr id="23" name="Text 19"/>
          <p:cNvSpPr txBox="1"/>
          <p:nvPr/>
        </p:nvSpPr>
        <p:spPr>
          <a:xfrm>
            <a:off x="457200" y="5486400"/>
            <a:ext cx="5943600" cy="822960"/>
          </a:xfrm>
          <a:prstGeom prst="rect">
            <a:avLst/>
          </a:prstGeom>
          <a:noFill/>
          <a:ln/>
        </p:spPr>
        <p:txBody>
          <a:bodyPr wrap="square" lIns="0" tIns="0" rIns="0" bIns="0" rtlCol="0" anchor="ctr"/>
          <a:lstStyle/>
          <a:p>
            <a:pPr indent="0" marL="0">
              <a:buNone/>
            </a:pPr>
            <a:r>
              <a:rPr lang="en-US" sz="1150" b="1" dirty="0">
                <a:solidFill>
                  <a:srgbClr val="F2A65A"/>
                </a:solidFill>
                <a:latin typeface="Calibri" pitchFamily="34" charset="0"/>
                <a:ea typeface="Calibri" pitchFamily="34" charset="-122"/>
                <a:cs typeface="Calibri" pitchFamily="34" charset="-120"/>
              </a:rPr>
              <a:t>But at least one frame per bit always is safe. Picking it scored 0.00% at every phase tested.</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203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F2A65A"/>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1800" b="1" dirty="0">
                <a:solidFill>
                  <a:srgbClr val="11203F"/>
                </a:solidFill>
                <a:latin typeface="Calibri" pitchFamily="34" charset="0"/>
                <a:ea typeface="Calibri" pitchFamily="34" charset="-122"/>
                <a:cs typeface="Calibri" pitchFamily="34" charset="-120"/>
              </a:rPr>
              <a:t>3</a:t>
            </a:r>
            <a:endParaRPr lang="en-US" sz="1800" dirty="0"/>
          </a:p>
        </p:txBody>
      </p:sp>
      <p:sp>
        <p:nvSpPr>
          <p:cNvPr id="4" name="Text 2"/>
          <p:cNvSpPr txBox="1"/>
          <p:nvPr/>
        </p:nvSpPr>
        <p:spPr>
          <a:xfrm>
            <a:off x="1051560" y="329184"/>
            <a:ext cx="10607040" cy="4572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Preprocessing frozen — and what we ask you to approve</a:t>
            </a:r>
            <a:endParaRPr lang="en-US" sz="3000" dirty="0"/>
          </a:p>
        </p:txBody>
      </p:sp>
      <p:sp>
        <p:nvSpPr>
          <p:cNvPr id="5" name="Text 3"/>
          <p:cNvSpPr txBox="1"/>
          <p:nvPr/>
        </p:nvSpPr>
        <p:spPr>
          <a:xfrm>
            <a:off x="1051560" y="795528"/>
            <a:ext cx="10607040" cy="292608"/>
          </a:xfrm>
          <a:prstGeom prst="rect">
            <a:avLst/>
          </a:prstGeom>
          <a:noFill/>
          <a:ln/>
        </p:spPr>
        <p:txBody>
          <a:bodyPr wrap="square" lIns="0" tIns="0" rIns="0" bIns="0" rtlCol="0" anchor="ctr"/>
          <a:lstStyle/>
          <a:p>
            <a:pPr indent="0" marL="0">
              <a:buNone/>
            </a:pPr>
            <a:r>
              <a:rPr lang="en-US" sz="1300" dirty="0">
                <a:solidFill>
                  <a:srgbClr val="8FA3C4"/>
                </a:solidFill>
                <a:latin typeface="Calibri" pitchFamily="34" charset="0"/>
                <a:ea typeface="Calibri" pitchFamily="34" charset="-122"/>
                <a:cs typeface="Calibri" pitchFamily="34" charset="-120"/>
              </a:rPr>
              <a:t>Locked today. Any later change needs a log entry and a re-run of everything above it.</a:t>
            </a:r>
            <a:endParaRPr lang="en-US" sz="1300" dirty="0"/>
          </a:p>
        </p:txBody>
      </p:sp>
      <p:sp>
        <p:nvSpPr>
          <p:cNvPr id="6" name="Text 4"/>
          <p:cNvSpPr txBox="1"/>
          <p:nvPr/>
        </p:nvSpPr>
        <p:spPr>
          <a:xfrm>
            <a:off x="457200" y="1280160"/>
            <a:ext cx="5577840" cy="274320"/>
          </a:xfrm>
          <a:prstGeom prst="rect">
            <a:avLst/>
          </a:prstGeom>
          <a:noFill/>
          <a:ln/>
        </p:spPr>
        <p:txBody>
          <a:bodyPr wrap="square" lIns="0" tIns="0" rIns="0" bIns="0" rtlCol="0" anchor="ctr"/>
          <a:lstStyle/>
          <a:p>
            <a:pPr indent="0" marL="0">
              <a:buNone/>
            </a:pPr>
            <a:r>
              <a:rPr lang="en-US" sz="1300" b="1" dirty="0">
                <a:solidFill>
                  <a:srgbClr val="F2A65A"/>
                </a:solidFill>
                <a:latin typeface="Calibri" pitchFamily="34" charset="0"/>
                <a:ea typeface="Calibri" pitchFamily="34" charset="-122"/>
                <a:cs typeface="Calibri" pitchFamily="34" charset="-120"/>
              </a:rPr>
              <a:t>Frozen preprocessing</a:t>
            </a:r>
            <a:endParaRPr lang="en-US" sz="1300" dirty="0"/>
          </a:p>
        </p:txBody>
      </p:sp>
      <p:sp>
        <p:nvSpPr>
          <p:cNvPr id="7" name="Shape 5"/>
          <p:cNvSpPr/>
          <p:nvPr/>
        </p:nvSpPr>
        <p:spPr>
          <a:xfrm>
            <a:off x="457200" y="1682496"/>
            <a:ext cx="310896" cy="310896"/>
          </a:xfrm>
          <a:prstGeom prst="ellipse">
            <a:avLst/>
          </a:prstGeom>
          <a:solidFill>
            <a:srgbClr val="CADCFC"/>
          </a:solidFill>
          <a:ln/>
        </p:spPr>
      </p:sp>
      <p:sp>
        <p:nvSpPr>
          <p:cNvPr id="8" name="Text 6"/>
          <p:cNvSpPr txBox="1"/>
          <p:nvPr/>
        </p:nvSpPr>
        <p:spPr>
          <a:xfrm>
            <a:off x="457200" y="1682496"/>
            <a:ext cx="310896" cy="310896"/>
          </a:xfrm>
          <a:prstGeom prst="rect">
            <a:avLst/>
          </a:prstGeom>
          <a:noFill/>
          <a:ln/>
        </p:spPr>
        <p:txBody>
          <a:bodyPr wrap="square" lIns="0" tIns="0" rIns="0" bIns="0" rtlCol="0" anchor="ctr"/>
          <a:lstStyle/>
          <a:p>
            <a:pPr algn="ctr" indent="0" marL="0">
              <a:buNone/>
            </a:pPr>
            <a:r>
              <a:rPr lang="en-US" sz="1100" b="1" dirty="0">
                <a:solidFill>
                  <a:srgbClr val="11203F"/>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896112" y="1627632"/>
            <a:ext cx="182880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Trim</a:t>
            </a:r>
            <a:endParaRPr lang="en-US" sz="1150" dirty="0"/>
          </a:p>
        </p:txBody>
      </p:sp>
      <p:sp>
        <p:nvSpPr>
          <p:cNvPr id="10" name="Text 8"/>
          <p:cNvSpPr txBox="1"/>
          <p:nvPr/>
        </p:nvSpPr>
        <p:spPr>
          <a:xfrm>
            <a:off x="896112" y="1865376"/>
            <a:ext cx="5029200" cy="274320"/>
          </a:xfrm>
          <a:prstGeom prst="rect">
            <a:avLst/>
          </a:prstGeom>
          <a:noFill/>
          <a:ln/>
        </p:spPr>
        <p:txBody>
          <a:bodyPr wrap="square" lIns="0" tIns="0" rIns="0" bIns="0" rtlCol="0" anchor="ctr"/>
          <a:lstStyle/>
          <a:p>
            <a:pPr indent="0" marL="0">
              <a:buNone/>
            </a:pPr>
            <a:r>
              <a:rPr lang="en-US" sz="1050" dirty="0">
                <a:solidFill>
                  <a:srgbClr val="8FA3C4"/>
                </a:solidFill>
                <a:latin typeface="Calibri" pitchFamily="34" charset="0"/>
                <a:ea typeface="Calibri" pitchFamily="34" charset="-122"/>
                <a:cs typeface="Calibri" pitchFamily="34" charset="-120"/>
              </a:rPr>
              <a:t>On sustained activity, not the first bright frame</a:t>
            </a:r>
            <a:endParaRPr lang="en-US" sz="1050" dirty="0"/>
          </a:p>
        </p:txBody>
      </p:sp>
      <p:sp>
        <p:nvSpPr>
          <p:cNvPr id="11" name="Shape 9"/>
          <p:cNvSpPr/>
          <p:nvPr/>
        </p:nvSpPr>
        <p:spPr>
          <a:xfrm>
            <a:off x="457200" y="2304288"/>
            <a:ext cx="310896" cy="310896"/>
          </a:xfrm>
          <a:prstGeom prst="ellipse">
            <a:avLst/>
          </a:prstGeom>
          <a:solidFill>
            <a:srgbClr val="CADCFC"/>
          </a:solidFill>
          <a:ln/>
        </p:spPr>
      </p:sp>
      <p:sp>
        <p:nvSpPr>
          <p:cNvPr id="12" name="Text 10"/>
          <p:cNvSpPr txBox="1"/>
          <p:nvPr/>
        </p:nvSpPr>
        <p:spPr>
          <a:xfrm>
            <a:off x="457200" y="2304288"/>
            <a:ext cx="310896" cy="310896"/>
          </a:xfrm>
          <a:prstGeom prst="rect">
            <a:avLst/>
          </a:prstGeom>
          <a:noFill/>
          <a:ln/>
        </p:spPr>
        <p:txBody>
          <a:bodyPr wrap="square" lIns="0" tIns="0" rIns="0" bIns="0" rtlCol="0" anchor="ctr"/>
          <a:lstStyle/>
          <a:p>
            <a:pPr algn="ctr" indent="0" marL="0">
              <a:buNone/>
            </a:pPr>
            <a:r>
              <a:rPr lang="en-US" sz="1100" b="1" dirty="0">
                <a:solidFill>
                  <a:srgbClr val="11203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896112" y="2249424"/>
            <a:ext cx="182880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Locate lamps</a:t>
            </a:r>
            <a:endParaRPr lang="en-US" sz="1150" dirty="0"/>
          </a:p>
        </p:txBody>
      </p:sp>
      <p:sp>
        <p:nvSpPr>
          <p:cNvPr id="14" name="Text 12"/>
          <p:cNvSpPr txBox="1"/>
          <p:nvPr/>
        </p:nvSpPr>
        <p:spPr>
          <a:xfrm>
            <a:off x="896112" y="2487168"/>
            <a:ext cx="5029200" cy="274320"/>
          </a:xfrm>
          <a:prstGeom prst="rect">
            <a:avLst/>
          </a:prstGeom>
          <a:noFill/>
          <a:ln/>
        </p:spPr>
        <p:txBody>
          <a:bodyPr wrap="square" lIns="0" tIns="0" rIns="0" bIns="0" rtlCol="0" anchor="ctr"/>
          <a:lstStyle/>
          <a:p>
            <a:pPr indent="0" marL="0">
              <a:buNone/>
            </a:pPr>
            <a:r>
              <a:rPr lang="en-US" sz="1050" dirty="0">
                <a:solidFill>
                  <a:srgbClr val="8FA3C4"/>
                </a:solidFill>
                <a:latin typeface="Calibri" pitchFamily="34" charset="0"/>
                <a:ea typeface="Calibri" pitchFamily="34" charset="-122"/>
                <a:cs typeface="Calibri" pitchFamily="34" charset="-120"/>
              </a:rPr>
              <a:t>Behaviour clustering; one ROI per lamp</a:t>
            </a:r>
            <a:endParaRPr lang="en-US" sz="1050" dirty="0"/>
          </a:p>
        </p:txBody>
      </p:sp>
      <p:sp>
        <p:nvSpPr>
          <p:cNvPr id="15" name="Shape 13"/>
          <p:cNvSpPr/>
          <p:nvPr/>
        </p:nvSpPr>
        <p:spPr>
          <a:xfrm>
            <a:off x="457200" y="2926080"/>
            <a:ext cx="310896" cy="310896"/>
          </a:xfrm>
          <a:prstGeom prst="ellipse">
            <a:avLst/>
          </a:prstGeom>
          <a:solidFill>
            <a:srgbClr val="CADCFC"/>
          </a:solidFill>
          <a:ln/>
        </p:spPr>
      </p:sp>
      <p:sp>
        <p:nvSpPr>
          <p:cNvPr id="16" name="Text 14"/>
          <p:cNvSpPr txBox="1"/>
          <p:nvPr/>
        </p:nvSpPr>
        <p:spPr>
          <a:xfrm>
            <a:off x="457200" y="2926080"/>
            <a:ext cx="310896" cy="310896"/>
          </a:xfrm>
          <a:prstGeom prst="rect">
            <a:avLst/>
          </a:prstGeom>
          <a:noFill/>
          <a:ln/>
        </p:spPr>
        <p:txBody>
          <a:bodyPr wrap="square" lIns="0" tIns="0" rIns="0" bIns="0" rtlCol="0" anchor="ctr"/>
          <a:lstStyle/>
          <a:p>
            <a:pPr algn="ctr" indent="0" marL="0">
              <a:buNone/>
            </a:pPr>
            <a:r>
              <a:rPr lang="en-US" sz="1100" b="1" dirty="0">
                <a:solidFill>
                  <a:srgbClr val="11203F"/>
                </a:solidFill>
                <a:latin typeface="Calibri" pitchFamily="34" charset="0"/>
                <a:ea typeface="Calibri" pitchFamily="34" charset="-122"/>
                <a:cs typeface="Calibri" pitchFamily="34" charset="-120"/>
              </a:rPr>
              <a:t>3</a:t>
            </a:r>
            <a:endParaRPr lang="en-US" sz="1100" dirty="0"/>
          </a:p>
        </p:txBody>
      </p:sp>
      <p:sp>
        <p:nvSpPr>
          <p:cNvPr id="17" name="Text 15"/>
          <p:cNvSpPr txBox="1"/>
          <p:nvPr/>
        </p:nvSpPr>
        <p:spPr>
          <a:xfrm>
            <a:off x="896112" y="2871216"/>
            <a:ext cx="182880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Brightness</a:t>
            </a:r>
            <a:endParaRPr lang="en-US" sz="1150" dirty="0"/>
          </a:p>
        </p:txBody>
      </p:sp>
      <p:sp>
        <p:nvSpPr>
          <p:cNvPr id="18" name="Text 16"/>
          <p:cNvSpPr txBox="1"/>
          <p:nvPr/>
        </p:nvSpPr>
        <p:spPr>
          <a:xfrm>
            <a:off x="896112" y="3108960"/>
            <a:ext cx="5029200" cy="274320"/>
          </a:xfrm>
          <a:prstGeom prst="rect">
            <a:avLst/>
          </a:prstGeom>
          <a:noFill/>
          <a:ln/>
        </p:spPr>
        <p:txBody>
          <a:bodyPr wrap="square" lIns="0" tIns="0" rIns="0" bIns="0" rtlCol="0" anchor="ctr"/>
          <a:lstStyle/>
          <a:p>
            <a:pPr indent="0" marL="0">
              <a:buNone/>
            </a:pPr>
            <a:r>
              <a:rPr lang="en-US" sz="1050" dirty="0">
                <a:solidFill>
                  <a:srgbClr val="8FA3C4"/>
                </a:solidFill>
                <a:latin typeface="Calibri" pitchFamily="34" charset="0"/>
                <a:ea typeface="Calibri" pitchFamily="34" charset="-122"/>
                <a:cs typeface="Calibri" pitchFamily="34" charset="-120"/>
              </a:rPr>
              <a:t>Mean of the brightest half of each ROI</a:t>
            </a:r>
            <a:endParaRPr lang="en-US" sz="1050" dirty="0"/>
          </a:p>
        </p:txBody>
      </p:sp>
      <p:sp>
        <p:nvSpPr>
          <p:cNvPr id="19" name="Shape 17"/>
          <p:cNvSpPr/>
          <p:nvPr/>
        </p:nvSpPr>
        <p:spPr>
          <a:xfrm>
            <a:off x="457200" y="3547872"/>
            <a:ext cx="310896" cy="310896"/>
          </a:xfrm>
          <a:prstGeom prst="ellipse">
            <a:avLst/>
          </a:prstGeom>
          <a:solidFill>
            <a:srgbClr val="CADCFC"/>
          </a:solidFill>
          <a:ln/>
        </p:spPr>
      </p:sp>
      <p:sp>
        <p:nvSpPr>
          <p:cNvPr id="20" name="Text 18"/>
          <p:cNvSpPr txBox="1"/>
          <p:nvPr/>
        </p:nvSpPr>
        <p:spPr>
          <a:xfrm>
            <a:off x="457200" y="3547872"/>
            <a:ext cx="310896" cy="310896"/>
          </a:xfrm>
          <a:prstGeom prst="rect">
            <a:avLst/>
          </a:prstGeom>
          <a:noFill/>
          <a:ln/>
        </p:spPr>
        <p:txBody>
          <a:bodyPr wrap="square" lIns="0" tIns="0" rIns="0" bIns="0" rtlCol="0" anchor="ctr"/>
          <a:lstStyle/>
          <a:p>
            <a:pPr algn="ctr" indent="0" marL="0">
              <a:buNone/>
            </a:pPr>
            <a:r>
              <a:rPr lang="en-US" sz="1100" b="1" dirty="0">
                <a:solidFill>
                  <a:srgbClr val="11203F"/>
                </a:solidFill>
                <a:latin typeface="Calibri" pitchFamily="34" charset="0"/>
                <a:ea typeface="Calibri" pitchFamily="34" charset="-122"/>
                <a:cs typeface="Calibri" pitchFamily="34" charset="-120"/>
              </a:rPr>
              <a:t>4</a:t>
            </a:r>
            <a:endParaRPr lang="en-US" sz="1100" dirty="0"/>
          </a:p>
        </p:txBody>
      </p:sp>
      <p:sp>
        <p:nvSpPr>
          <p:cNvPr id="21" name="Text 19"/>
          <p:cNvSpPr txBox="1"/>
          <p:nvPr/>
        </p:nvSpPr>
        <p:spPr>
          <a:xfrm>
            <a:off x="896112" y="3493008"/>
            <a:ext cx="182880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Detrend / normalise</a:t>
            </a:r>
            <a:endParaRPr lang="en-US" sz="1150" dirty="0"/>
          </a:p>
        </p:txBody>
      </p:sp>
      <p:sp>
        <p:nvSpPr>
          <p:cNvPr id="22" name="Text 20"/>
          <p:cNvSpPr txBox="1"/>
          <p:nvPr/>
        </p:nvSpPr>
        <p:spPr>
          <a:xfrm>
            <a:off x="896112" y="3730752"/>
            <a:ext cx="5029200" cy="274320"/>
          </a:xfrm>
          <a:prstGeom prst="rect">
            <a:avLst/>
          </a:prstGeom>
          <a:noFill/>
          <a:ln/>
        </p:spPr>
        <p:txBody>
          <a:bodyPr wrap="square" lIns="0" tIns="0" rIns="0" bIns="0" rtlCol="0" anchor="ctr"/>
          <a:lstStyle/>
          <a:p>
            <a:pPr indent="0" marL="0">
              <a:buNone/>
            </a:pPr>
            <a:r>
              <a:rPr lang="en-US" sz="1050" dirty="0">
                <a:solidFill>
                  <a:srgbClr val="8FA3C4"/>
                </a:solidFill>
                <a:latin typeface="Calibri" pitchFamily="34" charset="0"/>
                <a:ea typeface="Calibri" pitchFamily="34" charset="-122"/>
                <a:cs typeface="Calibri" pitchFamily="34" charset="-120"/>
              </a:rPr>
              <a:t>OFF by default — ambient varies 0.1% of contrast</a:t>
            </a:r>
            <a:endParaRPr lang="en-US" sz="1050" dirty="0"/>
          </a:p>
        </p:txBody>
      </p:sp>
      <p:sp>
        <p:nvSpPr>
          <p:cNvPr id="23" name="Shape 21"/>
          <p:cNvSpPr/>
          <p:nvPr/>
        </p:nvSpPr>
        <p:spPr>
          <a:xfrm>
            <a:off x="457200" y="4169664"/>
            <a:ext cx="310896" cy="310896"/>
          </a:xfrm>
          <a:prstGeom prst="ellipse">
            <a:avLst/>
          </a:prstGeom>
          <a:solidFill>
            <a:srgbClr val="CADCFC"/>
          </a:solidFill>
          <a:ln/>
        </p:spPr>
      </p:sp>
      <p:sp>
        <p:nvSpPr>
          <p:cNvPr id="24" name="Text 22"/>
          <p:cNvSpPr txBox="1"/>
          <p:nvPr/>
        </p:nvSpPr>
        <p:spPr>
          <a:xfrm>
            <a:off x="457200" y="4169664"/>
            <a:ext cx="310896" cy="310896"/>
          </a:xfrm>
          <a:prstGeom prst="rect">
            <a:avLst/>
          </a:prstGeom>
          <a:noFill/>
          <a:ln/>
        </p:spPr>
        <p:txBody>
          <a:bodyPr wrap="square" lIns="0" tIns="0" rIns="0" bIns="0" rtlCol="0" anchor="ctr"/>
          <a:lstStyle/>
          <a:p>
            <a:pPr algn="ctr" indent="0" marL="0">
              <a:buNone/>
            </a:pPr>
            <a:r>
              <a:rPr lang="en-US" sz="1100" b="1" dirty="0">
                <a:solidFill>
                  <a:srgbClr val="11203F"/>
                </a:solidFill>
                <a:latin typeface="Calibri" pitchFamily="34" charset="0"/>
                <a:ea typeface="Calibri" pitchFamily="34" charset="-122"/>
                <a:cs typeface="Calibri" pitchFamily="34" charset="-120"/>
              </a:rPr>
              <a:t>5</a:t>
            </a:r>
            <a:endParaRPr lang="en-US" sz="1100" dirty="0"/>
          </a:p>
        </p:txBody>
      </p:sp>
      <p:sp>
        <p:nvSpPr>
          <p:cNvPr id="25" name="Text 23"/>
          <p:cNvSpPr txBox="1"/>
          <p:nvPr/>
        </p:nvSpPr>
        <p:spPr>
          <a:xfrm>
            <a:off x="896112" y="4114800"/>
            <a:ext cx="182880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Smoothing</a:t>
            </a:r>
            <a:endParaRPr lang="en-US" sz="1150" dirty="0"/>
          </a:p>
        </p:txBody>
      </p:sp>
      <p:sp>
        <p:nvSpPr>
          <p:cNvPr id="26" name="Text 24"/>
          <p:cNvSpPr txBox="1"/>
          <p:nvPr/>
        </p:nvSpPr>
        <p:spPr>
          <a:xfrm>
            <a:off x="896112" y="4352544"/>
            <a:ext cx="5029200" cy="274320"/>
          </a:xfrm>
          <a:prstGeom prst="rect">
            <a:avLst/>
          </a:prstGeom>
          <a:noFill/>
          <a:ln/>
        </p:spPr>
        <p:txBody>
          <a:bodyPr wrap="square" lIns="0" tIns="0" rIns="0" bIns="0" rtlCol="0" anchor="ctr"/>
          <a:lstStyle/>
          <a:p>
            <a:pPr indent="0" marL="0">
              <a:buNone/>
            </a:pPr>
            <a:r>
              <a:rPr lang="en-US" sz="1050" dirty="0">
                <a:solidFill>
                  <a:srgbClr val="8FA3C4"/>
                </a:solidFill>
                <a:latin typeface="Calibri" pitchFamily="34" charset="0"/>
                <a:ea typeface="Calibri" pitchFamily="34" charset="-122"/>
                <a:cs typeface="Calibri" pitchFamily="34" charset="-120"/>
              </a:rPr>
              <a:t>OFF — it would erase the edges we read</a:t>
            </a:r>
            <a:endParaRPr lang="en-US" sz="1050" dirty="0"/>
          </a:p>
        </p:txBody>
      </p:sp>
      <p:sp>
        <p:nvSpPr>
          <p:cNvPr id="27" name="Shape 25"/>
          <p:cNvSpPr/>
          <p:nvPr/>
        </p:nvSpPr>
        <p:spPr>
          <a:xfrm>
            <a:off x="457200" y="4791456"/>
            <a:ext cx="310896" cy="310896"/>
          </a:xfrm>
          <a:prstGeom prst="ellipse">
            <a:avLst/>
          </a:prstGeom>
          <a:solidFill>
            <a:srgbClr val="CADCFC"/>
          </a:solidFill>
          <a:ln/>
        </p:spPr>
      </p:sp>
      <p:sp>
        <p:nvSpPr>
          <p:cNvPr id="28" name="Text 26"/>
          <p:cNvSpPr txBox="1"/>
          <p:nvPr/>
        </p:nvSpPr>
        <p:spPr>
          <a:xfrm>
            <a:off x="457200" y="4791456"/>
            <a:ext cx="310896" cy="310896"/>
          </a:xfrm>
          <a:prstGeom prst="rect">
            <a:avLst/>
          </a:prstGeom>
          <a:noFill/>
          <a:ln/>
        </p:spPr>
        <p:txBody>
          <a:bodyPr wrap="square" lIns="0" tIns="0" rIns="0" bIns="0" rtlCol="0" anchor="ctr"/>
          <a:lstStyle/>
          <a:p>
            <a:pPr algn="ctr" indent="0" marL="0">
              <a:buNone/>
            </a:pPr>
            <a:r>
              <a:rPr lang="en-US" sz="1100" b="1" dirty="0">
                <a:solidFill>
                  <a:srgbClr val="11203F"/>
                </a:solidFill>
                <a:latin typeface="Calibri" pitchFamily="34" charset="0"/>
                <a:ea typeface="Calibri" pitchFamily="34" charset="-122"/>
                <a:cs typeface="Calibri" pitchFamily="34" charset="-120"/>
              </a:rPr>
              <a:t>6</a:t>
            </a:r>
            <a:endParaRPr lang="en-US" sz="1100" dirty="0"/>
          </a:p>
        </p:txBody>
      </p:sp>
      <p:sp>
        <p:nvSpPr>
          <p:cNvPr id="29" name="Text 27"/>
          <p:cNvSpPr txBox="1"/>
          <p:nvPr/>
        </p:nvSpPr>
        <p:spPr>
          <a:xfrm>
            <a:off x="896112" y="4736592"/>
            <a:ext cx="182880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Sample</a:t>
            </a:r>
            <a:endParaRPr lang="en-US" sz="1150" dirty="0"/>
          </a:p>
        </p:txBody>
      </p:sp>
      <p:sp>
        <p:nvSpPr>
          <p:cNvPr id="30" name="Text 28"/>
          <p:cNvSpPr txBox="1"/>
          <p:nvPr/>
        </p:nvSpPr>
        <p:spPr>
          <a:xfrm>
            <a:off x="896112" y="4974336"/>
            <a:ext cx="5029200" cy="274320"/>
          </a:xfrm>
          <a:prstGeom prst="rect">
            <a:avLst/>
          </a:prstGeom>
          <a:noFill/>
          <a:ln/>
        </p:spPr>
        <p:txBody>
          <a:bodyPr wrap="square" lIns="0" tIns="0" rIns="0" bIns="0" rtlCol="0" anchor="ctr"/>
          <a:lstStyle/>
          <a:p>
            <a:pPr indent="0" marL="0">
              <a:buNone/>
            </a:pPr>
            <a:r>
              <a:rPr lang="en-US" sz="1050" dirty="0">
                <a:solidFill>
                  <a:srgbClr val="8FA3C4"/>
                </a:solidFill>
                <a:latin typeface="Calibri" pitchFamily="34" charset="0"/>
                <a:ea typeface="Calibri" pitchFamily="34" charset="-122"/>
                <a:cs typeface="Calibri" pitchFamily="34" charset="-120"/>
              </a:rPr>
              <a:t>Most confident frame inside each bit</a:t>
            </a:r>
            <a:endParaRPr lang="en-US" sz="1050" dirty="0"/>
          </a:p>
        </p:txBody>
      </p:sp>
      <p:sp>
        <p:nvSpPr>
          <p:cNvPr id="31" name="Text 29"/>
          <p:cNvSpPr txBox="1"/>
          <p:nvPr/>
        </p:nvSpPr>
        <p:spPr>
          <a:xfrm>
            <a:off x="6400800" y="1280160"/>
            <a:ext cx="5303520" cy="274320"/>
          </a:xfrm>
          <a:prstGeom prst="rect">
            <a:avLst/>
          </a:prstGeom>
          <a:noFill/>
          <a:ln/>
        </p:spPr>
        <p:txBody>
          <a:bodyPr wrap="square" lIns="0" tIns="0" rIns="0" bIns="0" rtlCol="0" anchor="ctr"/>
          <a:lstStyle/>
          <a:p>
            <a:pPr indent="0" marL="0">
              <a:buNone/>
            </a:pPr>
            <a:r>
              <a:rPr lang="en-US" sz="1300" b="1" dirty="0">
                <a:solidFill>
                  <a:srgbClr val="F2A65A"/>
                </a:solidFill>
                <a:latin typeface="Calibri" pitchFamily="34" charset="0"/>
                <a:ea typeface="Calibri" pitchFamily="34" charset="-122"/>
                <a:cs typeface="Calibri" pitchFamily="34" charset="-120"/>
              </a:rPr>
              <a:t>Synchronisation and evaluation</a:t>
            </a:r>
            <a:endParaRPr lang="en-US" sz="1300" dirty="0"/>
          </a:p>
        </p:txBody>
      </p:sp>
      <p:sp>
        <p:nvSpPr>
          <p:cNvPr id="32" name="Text 30"/>
          <p:cNvSpPr txBox="1"/>
          <p:nvPr/>
        </p:nvSpPr>
        <p:spPr>
          <a:xfrm>
            <a:off x="6400800" y="1627632"/>
            <a:ext cx="5303520" cy="182880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CADCFC"/>
                </a:solidFill>
                <a:latin typeface="Calibri" pitchFamily="34" charset="0"/>
                <a:ea typeface="Calibri" pitchFamily="34" charset="-122"/>
                <a:cs typeface="Calibri" pitchFamily="34" charset="-120"/>
              </a:rPr>
              <a:t>Bit rate is known: 260 fps ÷ 92 bps = 2.826 frames per bit.</a:t>
            </a:r>
            <a:endParaRPr lang="en-US" sz="1150" dirty="0"/>
          </a:p>
          <a:p>
            <a:pPr marL="342900" indent="-342900">
              <a:spcAft>
                <a:spcPts val="700"/>
              </a:spcAft>
              <a:buSzPct val="100000"/>
              <a:buChar char="•"/>
            </a:pPr>
            <a:r>
              <a:rPr lang="en-US" sz="1150" dirty="0">
                <a:solidFill>
                  <a:srgbClr val="CADCFC"/>
                </a:solidFill>
                <a:latin typeface="Calibri" pitchFamily="34" charset="0"/>
                <a:ea typeface="Calibri" pitchFamily="34" charset="-122"/>
                <a:cs typeface="Calibri" pitchFamily="34" charset="-120"/>
              </a:rPr>
              <a:t>Phase found by eye-opening search, re-estimated per block over long clips.</a:t>
            </a:r>
            <a:endParaRPr lang="en-US" sz="1150" dirty="0"/>
          </a:p>
          <a:p>
            <a:pPr marL="342900" indent="-342900">
              <a:spcAft>
                <a:spcPts val="700"/>
              </a:spcAft>
              <a:buSzPct val="100000"/>
              <a:buChar char="•"/>
            </a:pPr>
            <a:r>
              <a:rPr lang="en-US" sz="1150" dirty="0">
                <a:solidFill>
                  <a:srgbClr val="CADCFC"/>
                </a:solidFill>
                <a:latin typeface="Calibri" pitchFamily="34" charset="0"/>
                <a:ea typeface="Calibri" pitchFamily="34" charset="-122"/>
                <a:cs typeface="Calibri" pitchFamily="34" charset="-120"/>
              </a:rPr>
              <a:t>Report the tolerance range, not one accuracy number.</a:t>
            </a:r>
            <a:endParaRPr lang="en-US" sz="1150" dirty="0"/>
          </a:p>
          <a:p>
            <a:pPr marL="342900" indent="-342900">
              <a:spcAft>
                <a:spcPts val="700"/>
              </a:spcAft>
              <a:buSzPct val="100000"/>
              <a:buChar char="•"/>
            </a:pPr>
            <a:r>
              <a:rPr lang="en-US" sz="1150" dirty="0">
                <a:solidFill>
                  <a:srgbClr val="CADCFC"/>
                </a:solidFill>
                <a:latin typeface="Calibri" pitchFamily="34" charset="0"/>
                <a:ea typeface="Calibri" pitchFamily="34" charset="-122"/>
                <a:cs typeface="Calibri" pitchFamily="34" charset="-120"/>
              </a:rPr>
              <a:t>Tune on the first 30% of each video, report on the last 70%.</a:t>
            </a:r>
            <a:endParaRPr lang="en-US" sz="1150" dirty="0"/>
          </a:p>
          <a:p>
            <a:pPr marL="342900" indent="-342900">
              <a:spcAft>
                <a:spcPts val="700"/>
              </a:spcAft>
              <a:buSzPct val="100000"/>
              <a:buChar char="•"/>
            </a:pPr>
            <a:r>
              <a:rPr lang="en-US" sz="1150" dirty="0">
                <a:solidFill>
                  <a:srgbClr val="CADCFC"/>
                </a:solidFill>
                <a:latin typeface="Calibri" pitchFamily="34" charset="0"/>
                <a:ea typeface="Calibri" pitchFamily="34" charset="-122"/>
                <a:cs typeface="Calibri" pitchFamily="34" charset="-120"/>
              </a:rPr>
              <a:t>Per-lamp bitstreams saved before any combining.</a:t>
            </a:r>
            <a:endParaRPr lang="en-US" sz="1150" dirty="0"/>
          </a:p>
        </p:txBody>
      </p:sp>
      <p:sp>
        <p:nvSpPr>
          <p:cNvPr id="33" name="Shape 31"/>
          <p:cNvSpPr/>
          <p:nvPr/>
        </p:nvSpPr>
        <p:spPr>
          <a:xfrm>
            <a:off x="6400800" y="3611880"/>
            <a:ext cx="5303520" cy="2103120"/>
          </a:xfrm>
          <a:prstGeom prst="roundRect">
            <a:avLst>
              <a:gd name="adj" fmla="val 4348"/>
            </a:avLst>
          </a:prstGeom>
          <a:solidFill>
            <a:srgbClr val="4A2330"/>
          </a:solidFill>
          <a:ln/>
        </p:spPr>
      </p:sp>
      <p:sp>
        <p:nvSpPr>
          <p:cNvPr id="34" name="Text 32"/>
          <p:cNvSpPr txBox="1"/>
          <p:nvPr/>
        </p:nvSpPr>
        <p:spPr>
          <a:xfrm>
            <a:off x="6629400" y="3730752"/>
            <a:ext cx="4937760" cy="292608"/>
          </a:xfrm>
          <a:prstGeom prst="rect">
            <a:avLst/>
          </a:prstGeom>
          <a:noFill/>
          <a:ln/>
        </p:spPr>
        <p:txBody>
          <a:bodyPr wrap="square" lIns="0" tIns="0" rIns="0" bIns="0" rtlCol="0" anchor="ctr"/>
          <a:lstStyle/>
          <a:p>
            <a:pPr indent="0" marL="0">
              <a:buNone/>
            </a:pPr>
            <a:r>
              <a:rPr lang="en-US" sz="1250" b="1" dirty="0">
                <a:solidFill>
                  <a:srgbClr val="F08A9E"/>
                </a:solidFill>
                <a:latin typeface="Calibri" pitchFamily="34" charset="0"/>
                <a:ea typeface="Calibri" pitchFamily="34" charset="-122"/>
                <a:cs typeface="Calibri" pitchFamily="34" charset="-120"/>
              </a:rPr>
              <a:t>Blocking — we need a decision</a:t>
            </a:r>
            <a:endParaRPr lang="en-US" sz="1250" dirty="0"/>
          </a:p>
        </p:txBody>
      </p:sp>
      <p:sp>
        <p:nvSpPr>
          <p:cNvPr id="35" name="Text 33"/>
          <p:cNvSpPr txBox="1"/>
          <p:nvPr/>
        </p:nvSpPr>
        <p:spPr>
          <a:xfrm>
            <a:off x="6629400" y="4069080"/>
            <a:ext cx="4937760" cy="1554480"/>
          </a:xfrm>
          <a:prstGeom prst="rect">
            <a:avLst/>
          </a:prstGeom>
          <a:noFill/>
          <a:ln/>
        </p:spPr>
        <p:txBody>
          <a:bodyPr wrap="square" lIns="0" tIns="0" rIns="0" bIns="0" rtlCol="0" anchor="ctr"/>
          <a:lstStyle/>
          <a:p>
            <a:pPr indent="0" marL="0">
              <a:spcAft>
                <a:spcPts val="700"/>
              </a:spcAft>
              <a:buNone/>
            </a:pPr>
            <a:r>
              <a:rPr lang="en-US" sz="1100" dirty="0">
                <a:solidFill>
                  <a:srgbClr val="FFFFFF"/>
                </a:solidFill>
                <a:latin typeface="Calibri" pitchFamily="34" charset="0"/>
                <a:ea typeface="Calibri" pitchFamily="34" charset="-122"/>
                <a:cs typeface="Calibri" pitchFamily="34" charset="-120"/>
              </a:rPr>
              <a:t>No ground truth was supplied. BER and message correctness cannot be computed on any video, and the ML branch cannot run at all.</a:t>
            </a:r>
            <a:endParaRPr lang="en-US" sz="1100" dirty="0"/>
          </a:p>
          <a:p>
            <a:pPr indent="0" marL="0">
              <a:spcAft>
                <a:spcPts val="700"/>
              </a:spcAft>
              <a:buNone/>
            </a:pPr>
            <a:r>
              <a:rPr lang="en-US" sz="1100" dirty="0">
                <a:solidFill>
                  <a:srgbClr val="FFFFFF"/>
                </a:solidFill>
                <a:latin typeface="Calibri" pitchFamily="34" charset="0"/>
                <a:ea typeface="Calibri" pitchFamily="34" charset="-122"/>
                <a:cs typeface="Calibri" pitchFamily="34" charset="-120"/>
              </a:rPr>
              <a:t>The recovered bits are not plain text and not Manchester coded — the framing format is unknown.</a:t>
            </a:r>
            <a:endParaRPr lang="en-US" sz="1100" dirty="0"/>
          </a:p>
        </p:txBody>
      </p:sp>
      <p:sp>
        <p:nvSpPr>
          <p:cNvPr id="36" name="Text 34"/>
          <p:cNvSpPr txBox="1"/>
          <p:nvPr/>
        </p:nvSpPr>
        <p:spPr>
          <a:xfrm>
            <a:off x="457200" y="5943600"/>
            <a:ext cx="5577840" cy="365760"/>
          </a:xfrm>
          <a:prstGeom prst="rect">
            <a:avLst/>
          </a:prstGeom>
          <a:noFill/>
          <a:ln/>
        </p:spPr>
        <p:txBody>
          <a:bodyPr wrap="square" lIns="0" tIns="0" rIns="0" bIns="0" rtlCol="0" anchor="ctr"/>
          <a:lstStyle/>
          <a:p>
            <a:pPr indent="0" marL="0">
              <a:buNone/>
            </a:pPr>
            <a:r>
              <a:rPr lang="en-US" sz="1100" i="1" dirty="0">
                <a:solidFill>
                  <a:srgbClr val="8FA3C4"/>
                </a:solidFill>
                <a:latin typeface="Calibri" pitchFamily="34" charset="0"/>
                <a:ea typeface="Calibri" pitchFamily="34" charset="-122"/>
                <a:cs typeface="Calibri" pitchFamily="34" charset="-120"/>
              </a:rPr>
              <a:t>Everything above is frozen pending your approval of these two answers.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2026-09-08T21:21:07Z</dcterms:created>
  <dcterms:modified xsi:type="dcterms:W3CDTF">2026-09-08T21:21:07Z</dcterms:modified>
</cp:coreProperties>
</file>